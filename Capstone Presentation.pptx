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4" r:id="rId1"/>
  </p:sldMasterIdLst>
  <p:notesMasterIdLst>
    <p:notesMasterId r:id="rId20"/>
  </p:notesMasterIdLst>
  <p:sldIdLst>
    <p:sldId id="268" r:id="rId2"/>
    <p:sldId id="272" r:id="rId3"/>
    <p:sldId id="275" r:id="rId4"/>
    <p:sldId id="274" r:id="rId5"/>
    <p:sldId id="257" r:id="rId6"/>
    <p:sldId id="261" r:id="rId7"/>
    <p:sldId id="258" r:id="rId8"/>
    <p:sldId id="269" r:id="rId9"/>
    <p:sldId id="277" r:id="rId10"/>
    <p:sldId id="278" r:id="rId11"/>
    <p:sldId id="266" r:id="rId12"/>
    <p:sldId id="279" r:id="rId13"/>
    <p:sldId id="280" r:id="rId14"/>
    <p:sldId id="281" r:id="rId15"/>
    <p:sldId id="284" r:id="rId16"/>
    <p:sldId id="285" r:id="rId17"/>
    <p:sldId id="286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D262C-3A22-4454-98DC-F52E0FC0C7C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F14F7-1B18-442D-BCD3-B8D667087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62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F14F7-1B18-442D-BCD3-B8D6670872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7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56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9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63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83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3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75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5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85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2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01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51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86D916D-B3AC-40B3-ACA6-BC9E25612E5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6AF7521-4672-49ED-840B-3B1D73A7A4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14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07C5-C44C-A265-A17E-69E905C1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796" y="637891"/>
            <a:ext cx="5963411" cy="2791109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Capstone </a:t>
            </a:r>
            <a:r>
              <a:rPr lang="lt-LT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</a:t>
            </a:r>
            <a:r>
              <a:rPr lang="en-US" sz="2000" dirty="0" err="1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roject</a:t>
            </a:r>
            <a:br>
              <a:rPr lang="en-US" sz="36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en-US" sz="36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Financial Growth Audit for a </a:t>
            </a:r>
            <a:r>
              <a:rPr lang="lt-LT" sz="4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B2B </a:t>
            </a:r>
            <a:r>
              <a:rPr lang="en-US" sz="4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SaaS Company</a:t>
            </a:r>
            <a:endParaRPr lang="en-US" sz="36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FF02F-07CA-F306-2889-A6713C4E2A11}"/>
              </a:ext>
            </a:extLst>
          </p:cNvPr>
          <p:cNvSpPr txBox="1"/>
          <p:nvPr/>
        </p:nvSpPr>
        <p:spPr>
          <a:xfrm>
            <a:off x="2804598" y="5093877"/>
            <a:ext cx="3356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Dominykas</a:t>
            </a:r>
            <a:r>
              <a:rPr lang="lt-LT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Datk</a:t>
            </a:r>
            <a:r>
              <a:rPr lang="lt-LT" sz="2400" dirty="0" err="1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ūnas</a:t>
            </a:r>
            <a:r>
              <a:rPr lang="lt-LT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r>
              <a:rPr lang="lt-LT" sz="2400" dirty="0" err="1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July</a:t>
            </a:r>
            <a:r>
              <a:rPr lang="lt-LT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3, 2026</a:t>
            </a:r>
            <a:endParaRPr lang="en-US" sz="2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F4A944-B1F7-3056-B247-03DE775F3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94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31720F-5C0B-F27E-BE56-E026AB49DE8D}"/>
              </a:ext>
            </a:extLst>
          </p:cNvPr>
          <p:cNvSpPr txBox="1"/>
          <p:nvPr/>
        </p:nvSpPr>
        <p:spPr>
          <a:xfrm>
            <a:off x="1835888" y="545804"/>
            <a:ext cx="3175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2000" dirty="0" err="1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</a:t>
            </a: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4F326-1830-A52A-3AAA-8AFAE6488160}"/>
              </a:ext>
            </a:extLst>
          </p:cNvPr>
          <p:cNvSpPr txBox="1"/>
          <p:nvPr/>
        </p:nvSpPr>
        <p:spPr>
          <a:xfrm>
            <a:off x="1977656" y="2116234"/>
            <a:ext cx="98769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Dataset</a:t>
            </a:r>
            <a:r>
              <a:rPr lang="en-US" sz="2000" noProof="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: AWS SaaS Sales (Kaggle)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Timeframe: 4 years (2020-2023)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Audience: Company’s executives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Company: Fictional B2B SaaS Company, providing sales and marketing software to large, global enterprises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Data: Completed sales transactions</a:t>
            </a:r>
            <a:endParaRPr lang="en-US" sz="2400" dirty="0">
              <a:solidFill>
                <a:srgbClr val="002060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52E03D-6A1A-3F8F-78E3-7F3C6F01F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9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5FD6-C0CB-93C2-A2B3-B1F2F74A4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C73D38-0084-F426-5CA7-0531488AA9CE}"/>
              </a:ext>
            </a:extLst>
          </p:cNvPr>
          <p:cNvSpPr txBox="1"/>
          <p:nvPr/>
        </p:nvSpPr>
        <p:spPr>
          <a:xfrm>
            <a:off x="1835888" y="545804"/>
            <a:ext cx="3175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85342-3EAF-1590-5982-585BC398C67D}"/>
              </a:ext>
            </a:extLst>
          </p:cNvPr>
          <p:cNvSpPr txBox="1"/>
          <p:nvPr/>
        </p:nvSpPr>
        <p:spPr>
          <a:xfrm>
            <a:off x="1977656" y="2116234"/>
            <a:ext cx="98769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No information on cancelled subscriptions (100% retention rate to be expected).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No information on Customer Acquisition Cost (CAC).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No information on monthly cash-flows.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rgbClr val="002060"/>
              </a:solidFill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Solution</a:t>
            </a: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Feature engineering</a:t>
            </a:r>
            <a:r>
              <a:rPr lang="en-US" sz="20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: yearly subscription, monthly MRR</a:t>
            </a:r>
            <a:endParaRPr lang="en-US" sz="2400" dirty="0">
              <a:solidFill>
                <a:srgbClr val="002060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38EFF-C015-8C55-E817-A84F764B3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54AD-5B99-36C2-FEE7-47D774214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0BF7CA-E3DB-9CC1-3B24-29E98FC1BD5D}"/>
              </a:ext>
            </a:extLst>
          </p:cNvPr>
          <p:cNvSpPr txBox="1"/>
          <p:nvPr/>
        </p:nvSpPr>
        <p:spPr>
          <a:xfrm>
            <a:off x="1835888" y="545804"/>
            <a:ext cx="3175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A2FD5-3E2E-22C0-2B1B-75320D689147}"/>
              </a:ext>
            </a:extLst>
          </p:cNvPr>
          <p:cNvSpPr txBox="1"/>
          <p:nvPr/>
        </p:nvSpPr>
        <p:spPr>
          <a:xfrm>
            <a:off x="1835888" y="2748336"/>
            <a:ext cx="98769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Where is </a:t>
            </a: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profit loss </a:t>
            </a:r>
            <a:r>
              <a:rPr lang="en-US" sz="24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occurring and how can we </a:t>
            </a: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leverage high-value customer segments</a:t>
            </a:r>
            <a:r>
              <a:rPr lang="en-US" sz="2400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to drive further growth?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8FF09C-8B59-804C-309B-A7383D4DB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1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5C83A9-5717-B14D-24A2-11C40C88D543}"/>
              </a:ext>
            </a:extLst>
          </p:cNvPr>
          <p:cNvSpPr txBox="1"/>
          <p:nvPr/>
        </p:nvSpPr>
        <p:spPr>
          <a:xfrm>
            <a:off x="1835888" y="545804"/>
            <a:ext cx="3175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Contents</a:t>
            </a: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704EC-4338-5C07-71B9-5BCF71354906}"/>
              </a:ext>
            </a:extLst>
          </p:cNvPr>
          <p:cNvSpPr txBox="1"/>
          <p:nvPr/>
        </p:nvSpPr>
        <p:spPr>
          <a:xfrm>
            <a:off x="1977656" y="2116234"/>
            <a:ext cx="9876945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 of affairs</a:t>
            </a:r>
            <a:endParaRPr lang="lt-LT" sz="2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3A4F4-9284-3AAC-3139-F05533EBF8B7}"/>
              </a:ext>
            </a:extLst>
          </p:cNvPr>
          <p:cNvSpPr txBox="1"/>
          <p:nvPr/>
        </p:nvSpPr>
        <p:spPr>
          <a:xfrm>
            <a:off x="1970568" y="2855851"/>
            <a:ext cx="479882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Causes of profit loss</a:t>
            </a:r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is holding back future growth?</a:t>
            </a:r>
          </a:p>
          <a:p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A6334-6FC1-FAD5-830C-D3B6518A2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8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DBD96F-B423-FE4D-5EC8-932236FC1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9909" y="558914"/>
            <a:ext cx="10018712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 of Affairs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l"/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Main trend – strong and steady financial growth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C203C0-A03C-F39C-2044-C382CDACE1E7}"/>
              </a:ext>
            </a:extLst>
          </p:cNvPr>
          <p:cNvSpPr/>
          <p:nvPr/>
        </p:nvSpPr>
        <p:spPr>
          <a:xfrm>
            <a:off x="1484309" y="1712843"/>
            <a:ext cx="9930229" cy="44593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12167F-5F09-EC22-DF89-6BBDC7F95852}"/>
              </a:ext>
            </a:extLst>
          </p:cNvPr>
          <p:cNvSpPr txBox="1"/>
          <p:nvPr/>
        </p:nvSpPr>
        <p:spPr>
          <a:xfrm>
            <a:off x="1729909" y="2062374"/>
            <a:ext cx="4775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Monthly Recurring Revenue </a:t>
            </a:r>
            <a:r>
              <a:rPr lang="en-US" dirty="0" err="1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i</a:t>
            </a:r>
            <a:r>
              <a:rPr lang="lt-LT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ncreased </a:t>
            </a:r>
            <a:r>
              <a:rPr lang="lt-LT" dirty="0" err="1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by</a:t>
            </a:r>
            <a:r>
              <a:rPr lang="lt-LT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68%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over 3 years, by </a:t>
            </a:r>
            <a:r>
              <a:rPr lang="en-US" b="1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25%</a:t>
            </a:r>
            <a:r>
              <a:rPr lang="en-US" b="1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over last year.</a:t>
            </a:r>
            <a:endParaRPr lang="en-US" b="1" dirty="0">
              <a:solidFill>
                <a:srgbClr val="002060"/>
              </a:solidFill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07630-2C58-7676-31AB-8D43EB60EBF8}"/>
              </a:ext>
            </a:extLst>
          </p:cNvPr>
          <p:cNvSpPr txBox="1"/>
          <p:nvPr/>
        </p:nvSpPr>
        <p:spPr>
          <a:xfrm>
            <a:off x="6927265" y="2062374"/>
            <a:ext cx="440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Monthly Profit 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increased by </a:t>
            </a:r>
            <a:r>
              <a:rPr lang="en-US" b="1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142%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over 3 years, by</a:t>
            </a:r>
            <a:r>
              <a:rPr lang="en-US" b="1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25%</a:t>
            </a:r>
            <a:r>
              <a:rPr lang="en-US" b="1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over last year.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EB90CD-50B3-3CDE-ABC7-9D390E149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09" y="3102594"/>
            <a:ext cx="4664166" cy="2275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EFF285-A225-550F-4384-B06C5B0BC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81" y="3058236"/>
            <a:ext cx="3480937" cy="2363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64D81-EF3B-6D82-1680-2554153F9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1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2482665-0C24-E9BF-A803-8CC96BA3C774}"/>
              </a:ext>
            </a:extLst>
          </p:cNvPr>
          <p:cNvSpPr/>
          <p:nvPr/>
        </p:nvSpPr>
        <p:spPr>
          <a:xfrm>
            <a:off x="1856176" y="1477616"/>
            <a:ext cx="6522280" cy="470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3ABFC-B3EE-46FE-07A9-FD7F212E2570}"/>
              </a:ext>
            </a:extLst>
          </p:cNvPr>
          <p:cNvSpPr txBox="1"/>
          <p:nvPr/>
        </p:nvSpPr>
        <p:spPr>
          <a:xfrm>
            <a:off x="1928036" y="616688"/>
            <a:ext cx="64504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 of Affairs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churn, No new customers for over 3 years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82D73-68B8-0AB8-6B52-3A8DC3C7E42A}"/>
              </a:ext>
            </a:extLst>
          </p:cNvPr>
          <p:cNvSpPr txBox="1"/>
          <p:nvPr/>
        </p:nvSpPr>
        <p:spPr>
          <a:xfrm>
            <a:off x="1928035" y="1878572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All growth since September 2020 driven by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Expansion MRR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.</a:t>
            </a:r>
          </a:p>
          <a:p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All losses driven by </a:t>
            </a:r>
            <a:r>
              <a:rPr lang="en-US" b="1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Contraction MRR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, not Churn.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C71D8-F392-C5A0-1623-D5DD9F8EE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359" y="2770278"/>
            <a:ext cx="6155913" cy="3265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564F62-EA95-BE0C-DEE9-D520E6E15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9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34E8-52B5-220A-492C-286A64D3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60C23B-E187-B5B1-31FA-F84B97E760A3}"/>
              </a:ext>
            </a:extLst>
          </p:cNvPr>
          <p:cNvSpPr txBox="1"/>
          <p:nvPr/>
        </p:nvSpPr>
        <p:spPr>
          <a:xfrm>
            <a:off x="1835888" y="545804"/>
            <a:ext cx="3175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Contents</a:t>
            </a: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A7BA1-0E94-EF62-A4E0-F35D5DF8C688}"/>
              </a:ext>
            </a:extLst>
          </p:cNvPr>
          <p:cNvSpPr txBox="1"/>
          <p:nvPr/>
        </p:nvSpPr>
        <p:spPr>
          <a:xfrm>
            <a:off x="1977656" y="2116234"/>
            <a:ext cx="9876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 of Affairs</a:t>
            </a:r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CE70D-263C-9644-0A61-4264601D91FD}"/>
              </a:ext>
            </a:extLst>
          </p:cNvPr>
          <p:cNvSpPr txBox="1"/>
          <p:nvPr/>
        </p:nvSpPr>
        <p:spPr>
          <a:xfrm>
            <a:off x="1977655" y="2661486"/>
            <a:ext cx="9876945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Causes of profit loss</a:t>
            </a:r>
            <a:endParaRPr lang="lt-LT" sz="2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868E1-4F16-EC8E-80AD-0A5ECDABBC87}"/>
              </a:ext>
            </a:extLst>
          </p:cNvPr>
          <p:cNvSpPr txBox="1"/>
          <p:nvPr/>
        </p:nvSpPr>
        <p:spPr>
          <a:xfrm>
            <a:off x="1977656" y="3268293"/>
            <a:ext cx="51963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is holding back future growth?</a:t>
            </a:r>
          </a:p>
          <a:p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1D0F0B-426D-5364-9919-577599047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29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4B0C1-E11A-96CD-6B7F-64C96840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4DD4B6B-6A2B-C414-D60F-91D2284AB5C1}"/>
              </a:ext>
            </a:extLst>
          </p:cNvPr>
          <p:cNvSpPr/>
          <p:nvPr/>
        </p:nvSpPr>
        <p:spPr>
          <a:xfrm>
            <a:off x="1856176" y="1477616"/>
            <a:ext cx="6522280" cy="470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7CF86-B5B5-89D9-22D5-58D3C92724A9}"/>
              </a:ext>
            </a:extLst>
          </p:cNvPr>
          <p:cNvSpPr txBox="1"/>
          <p:nvPr/>
        </p:nvSpPr>
        <p:spPr>
          <a:xfrm>
            <a:off x="1928036" y="616688"/>
            <a:ext cx="64504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Causes of profit loss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A/B test. Excessive discounts drive profit loss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E4677-7972-D41E-FBFA-33848F98328B}"/>
              </a:ext>
            </a:extLst>
          </p:cNvPr>
          <p:cNvSpPr txBox="1"/>
          <p:nvPr/>
        </p:nvSpPr>
        <p:spPr>
          <a:xfrm>
            <a:off x="1958289" y="1725150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98% of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transactions 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with a discount rate of over 20% have been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unprofitable 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and resulted in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$135k profit loss.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087D77-A13A-9951-05FD-E7E1E86AA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A0C024-F76C-F381-E47C-D23E87BA3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355" y="2666699"/>
            <a:ext cx="4651780" cy="321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43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BADB2-BB15-72B6-294B-CF954E55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B699EB-6951-2E9F-5018-3DA02D6E4EF5}"/>
              </a:ext>
            </a:extLst>
          </p:cNvPr>
          <p:cNvSpPr/>
          <p:nvPr/>
        </p:nvSpPr>
        <p:spPr>
          <a:xfrm>
            <a:off x="1856176" y="1477616"/>
            <a:ext cx="6522280" cy="470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97354-FB92-7155-86F8-6A350BD5DEB2}"/>
              </a:ext>
            </a:extLst>
          </p:cNvPr>
          <p:cNvSpPr txBox="1"/>
          <p:nvPr/>
        </p:nvSpPr>
        <p:spPr>
          <a:xfrm>
            <a:off x="1928036" y="616688"/>
            <a:ext cx="64504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Causes of profit loss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Some products fall behind in profitability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753BE1-4C52-4564-ACCA-62086ABD257B}"/>
              </a:ext>
            </a:extLst>
          </p:cNvPr>
          <p:cNvSpPr txBox="1"/>
          <p:nvPr/>
        </p:nvSpPr>
        <p:spPr>
          <a:xfrm>
            <a:off x="1958289" y="1725150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Marketing Suite 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recorded a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profit loss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, which can’t be explained by a discount – further investigation required.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7D9A41-CFC6-EB88-DACA-3518F29FA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B3F008-5B6C-30AD-ABD1-B2B4A8C0C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257" y="2616856"/>
            <a:ext cx="4962118" cy="33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50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FE1E21-B819-5B02-D4B7-FF7B56B42F4F}"/>
              </a:ext>
            </a:extLst>
          </p:cNvPr>
          <p:cNvSpPr txBox="1"/>
          <p:nvPr/>
        </p:nvSpPr>
        <p:spPr>
          <a:xfrm>
            <a:off x="1835888" y="545804"/>
            <a:ext cx="3175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Contents</a:t>
            </a: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3124B-E980-00D9-C236-1EAB3095727C}"/>
              </a:ext>
            </a:extLst>
          </p:cNvPr>
          <p:cNvSpPr txBox="1"/>
          <p:nvPr/>
        </p:nvSpPr>
        <p:spPr>
          <a:xfrm>
            <a:off x="1977656" y="2116234"/>
            <a:ext cx="9876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 of Affairs</a:t>
            </a:r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16A49-483B-4967-14D4-42A35997E7B0}"/>
              </a:ext>
            </a:extLst>
          </p:cNvPr>
          <p:cNvSpPr txBox="1"/>
          <p:nvPr/>
        </p:nvSpPr>
        <p:spPr>
          <a:xfrm>
            <a:off x="1977655" y="2661486"/>
            <a:ext cx="9876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Causes of Profit Loss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440A8-0CFF-C37D-5EB3-9013A91C05E6}"/>
              </a:ext>
            </a:extLst>
          </p:cNvPr>
          <p:cNvSpPr txBox="1"/>
          <p:nvPr/>
        </p:nvSpPr>
        <p:spPr>
          <a:xfrm>
            <a:off x="1977654" y="3206738"/>
            <a:ext cx="9876945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is holding back future growth?</a:t>
            </a:r>
            <a:endParaRPr lang="lt-LT" sz="2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A7CA8A-2311-82B2-72CA-1E72B9F261AB}"/>
              </a:ext>
            </a:extLst>
          </p:cNvPr>
          <p:cNvSpPr txBox="1"/>
          <p:nvPr/>
        </p:nvSpPr>
        <p:spPr>
          <a:xfrm>
            <a:off x="1991973" y="3813545"/>
            <a:ext cx="98769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C4838A-9F6E-38AA-D788-D5030A9F1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4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7EA9-B18F-22B8-10CB-8EC86F60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44641E9-0480-3756-08CF-00D0F9F1295C}"/>
              </a:ext>
            </a:extLst>
          </p:cNvPr>
          <p:cNvSpPr/>
          <p:nvPr/>
        </p:nvSpPr>
        <p:spPr>
          <a:xfrm>
            <a:off x="1856176" y="1477616"/>
            <a:ext cx="6522280" cy="470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FB19F-6700-EDEA-DC71-F7B159170F25}"/>
              </a:ext>
            </a:extLst>
          </p:cNvPr>
          <p:cNvSpPr txBox="1"/>
          <p:nvPr/>
        </p:nvSpPr>
        <p:spPr>
          <a:xfrm>
            <a:off x="1928036" y="616688"/>
            <a:ext cx="64504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is holding back future growth?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Growth is limited by lack of new customers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2DA2B3-81F3-CF37-E332-230B58441276}"/>
              </a:ext>
            </a:extLst>
          </p:cNvPr>
          <p:cNvSpPr txBox="1"/>
          <p:nvPr/>
        </p:nvSpPr>
        <p:spPr>
          <a:xfrm>
            <a:off x="1958289" y="1725150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Net Retention Rate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(NRR) has stabilized 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for majority of cohorts. New sources of revenue are needed in long term.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13054B-41F2-BE9E-5A12-73561B4BF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CFE599-661D-4621-781F-6AD72D9C2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528" y="2697752"/>
            <a:ext cx="5498096" cy="315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4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F73F-7792-A663-A300-F340393E1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6B51824-2E06-80F5-32D5-8902434646D7}"/>
              </a:ext>
            </a:extLst>
          </p:cNvPr>
          <p:cNvSpPr/>
          <p:nvPr/>
        </p:nvSpPr>
        <p:spPr>
          <a:xfrm>
            <a:off x="1856176" y="1477616"/>
            <a:ext cx="6522280" cy="470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53475-3F70-DBC0-3592-8E0D23D069FF}"/>
              </a:ext>
            </a:extLst>
          </p:cNvPr>
          <p:cNvSpPr txBox="1"/>
          <p:nvPr/>
        </p:nvSpPr>
        <p:spPr>
          <a:xfrm>
            <a:off x="1928036" y="616688"/>
            <a:ext cx="64504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is holding back future growth?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Uneven discounting practices across countries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E3363A-A93A-6D17-32C1-06207AFCA91C}"/>
              </a:ext>
            </a:extLst>
          </p:cNvPr>
          <p:cNvSpPr txBox="1"/>
          <p:nvPr/>
        </p:nvSpPr>
        <p:spPr>
          <a:xfrm>
            <a:off x="1958289" y="1725150"/>
            <a:ext cx="638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Among countries that recorded a profit loss – all had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high average discount rates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058B23-2423-68EB-B86A-C977D2268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A86A01-A167-EA85-7A31-04745F55A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359" y="2616856"/>
            <a:ext cx="5416592" cy="344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74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9D56-7AD0-9572-5DAE-D0645756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F73C66-004C-ABCA-4CD3-46D38AE45067}"/>
              </a:ext>
            </a:extLst>
          </p:cNvPr>
          <p:cNvSpPr txBox="1"/>
          <p:nvPr/>
        </p:nvSpPr>
        <p:spPr>
          <a:xfrm>
            <a:off x="1835888" y="545804"/>
            <a:ext cx="3175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Contents</a:t>
            </a: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1054E-8459-23C4-19CC-F8B7AEC1381B}"/>
              </a:ext>
            </a:extLst>
          </p:cNvPr>
          <p:cNvSpPr txBox="1"/>
          <p:nvPr/>
        </p:nvSpPr>
        <p:spPr>
          <a:xfrm>
            <a:off x="1977656" y="2116234"/>
            <a:ext cx="98769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 of Affairs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Causes of profit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is holding back future growth?</a:t>
            </a:r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80FD4-6ED5-1168-3AD0-97DC950AE2C7}"/>
              </a:ext>
            </a:extLst>
          </p:cNvPr>
          <p:cNvSpPr txBox="1"/>
          <p:nvPr/>
        </p:nvSpPr>
        <p:spPr>
          <a:xfrm>
            <a:off x="1977655" y="3855517"/>
            <a:ext cx="9876945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strategy</a:t>
            </a:r>
            <a:endParaRPr lang="lt-LT" sz="2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AD1699-BB5A-3536-1B95-7BECC8F6564D}"/>
              </a:ext>
            </a:extLst>
          </p:cNvPr>
          <p:cNvSpPr txBox="1"/>
          <p:nvPr/>
        </p:nvSpPr>
        <p:spPr>
          <a:xfrm>
            <a:off x="1977655" y="4425249"/>
            <a:ext cx="5196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537307-2765-1693-9F02-DAD67CEB9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08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022E-8D78-CD59-6CCC-467FB1A1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14BB9A-93CE-C053-9EC2-AE8304F553DF}"/>
              </a:ext>
            </a:extLst>
          </p:cNvPr>
          <p:cNvSpPr/>
          <p:nvPr/>
        </p:nvSpPr>
        <p:spPr>
          <a:xfrm>
            <a:off x="1475378" y="1704008"/>
            <a:ext cx="6051858" cy="44593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94A67-E9BF-E96A-7669-5328E41E6D3B}"/>
              </a:ext>
            </a:extLst>
          </p:cNvPr>
          <p:cNvSpPr txBox="1"/>
          <p:nvPr/>
        </p:nvSpPr>
        <p:spPr>
          <a:xfrm>
            <a:off x="1729908" y="2062375"/>
            <a:ext cx="56957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Current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CLV - $42k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, which is 2x the revenue, customers have generated over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CLV growth going down – possible indication that growth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has stabilized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Acceptable CAC 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when acquiring new customers: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$8.4k - $14k.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31F83A15-D5E2-3CD4-E178-C81D1D132A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9909" y="558914"/>
            <a:ext cx="10018712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Strategy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l"/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Calculating CAC for future customer acquisitions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CF9F1-0909-126A-B8A0-49549594B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61" y="4729066"/>
            <a:ext cx="3721291" cy="10732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AD13D3-FA7D-3AA4-B1D1-076620E80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52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BED89-B876-F484-D1B4-1593389E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2D01FDE-C435-E917-979A-2F4BBDE25636}"/>
              </a:ext>
            </a:extLst>
          </p:cNvPr>
          <p:cNvSpPr/>
          <p:nvPr/>
        </p:nvSpPr>
        <p:spPr>
          <a:xfrm>
            <a:off x="1856176" y="1477616"/>
            <a:ext cx="6522280" cy="4702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D761F-EC8B-E615-57AB-B034F81D788C}"/>
              </a:ext>
            </a:extLst>
          </p:cNvPr>
          <p:cNvSpPr txBox="1"/>
          <p:nvPr/>
        </p:nvSpPr>
        <p:spPr>
          <a:xfrm>
            <a:off x="1928036" y="616688"/>
            <a:ext cx="64504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Strategy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base is already highly secure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EDAE34-04DF-B4AA-25DF-D76968500FCC}"/>
              </a:ext>
            </a:extLst>
          </p:cNvPr>
          <p:cNvSpPr txBox="1"/>
          <p:nvPr/>
        </p:nvSpPr>
        <p:spPr>
          <a:xfrm>
            <a:off x="1958289" y="1725150"/>
            <a:ext cx="6389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55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out of the 99 active clients in </a:t>
            </a: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highest value segments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Only 4</a:t>
            </a: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– “At risk”, “Can’t Lose Them”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For existing customers – double down on loyalty.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CF891F-9695-8C16-69F8-AC48B5645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EA6EB8-5051-6568-1B6F-D7070358C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957" y="3117263"/>
            <a:ext cx="6028718" cy="273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08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5DF48-DB2E-921E-5058-721F87FC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078164-481D-42C9-5F4B-996FE25AFEEC}"/>
              </a:ext>
            </a:extLst>
          </p:cNvPr>
          <p:cNvSpPr txBox="1"/>
          <p:nvPr/>
        </p:nvSpPr>
        <p:spPr>
          <a:xfrm>
            <a:off x="1835888" y="545804"/>
            <a:ext cx="3175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Contents</a:t>
            </a: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1F708-BD3C-3FB6-5CD7-60B9823225C8}"/>
              </a:ext>
            </a:extLst>
          </p:cNvPr>
          <p:cNvSpPr txBox="1"/>
          <p:nvPr/>
        </p:nvSpPr>
        <p:spPr>
          <a:xfrm>
            <a:off x="1977656" y="2116234"/>
            <a:ext cx="98769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 of Affairs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Causes of profit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is holding back future growth?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strategy</a:t>
            </a:r>
            <a:endParaRPr lang="lt-LT" sz="20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BEC3D-16E6-E69F-29DB-DBEB72C8E845}"/>
              </a:ext>
            </a:extLst>
          </p:cNvPr>
          <p:cNvSpPr txBox="1"/>
          <p:nvPr/>
        </p:nvSpPr>
        <p:spPr>
          <a:xfrm>
            <a:off x="1977656" y="4471070"/>
            <a:ext cx="9876945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lt-LT" sz="2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E9B08D-0605-9240-7EDE-503F1FE27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44" y="250594"/>
            <a:ext cx="1222157" cy="12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94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F1F28D-3758-F90A-6672-94D48AA0A8E7}"/>
              </a:ext>
            </a:extLst>
          </p:cNvPr>
          <p:cNvSpPr/>
          <p:nvPr/>
        </p:nvSpPr>
        <p:spPr>
          <a:xfrm>
            <a:off x="1484308" y="1528417"/>
            <a:ext cx="9563588" cy="46261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F5CD5913-3BE4-A294-C601-E7823C89CB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9909" y="558914"/>
            <a:ext cx="10018712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lt-LT" sz="1400" dirty="0">
              <a:solidFill>
                <a:schemeClr val="bg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l"/>
            <a:r>
              <a:rPr lang="en-US" sz="20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Proposition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CCB3DA-5545-6B2B-6991-62D9741051CC}"/>
              </a:ext>
            </a:extLst>
          </p:cNvPr>
          <p:cNvSpPr txBox="1"/>
          <p:nvPr/>
        </p:nvSpPr>
        <p:spPr>
          <a:xfrm>
            <a:off x="1729909" y="2205334"/>
            <a:ext cx="88524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Strict 20% Discount Cap.</a:t>
            </a:r>
          </a:p>
          <a:p>
            <a:endParaRPr lang="en-US" sz="2400" b="1" dirty="0">
              <a:solidFill>
                <a:srgbClr val="002060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Acquire new customers.</a:t>
            </a:r>
            <a:endParaRPr lang="lt-LT" sz="2400" dirty="0">
              <a:solidFill>
                <a:srgbClr val="002060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endParaRPr lang="lt-LT" sz="2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Prioritize high value customer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A/B test product viability (Marketing Suite).</a:t>
            </a:r>
          </a:p>
        </p:txBody>
      </p:sp>
    </p:spTree>
    <p:extLst>
      <p:ext uri="{BB962C8B-B14F-4D97-AF65-F5344CB8AC3E}">
        <p14:creationId xmlns:p14="http://schemas.microsoft.com/office/powerpoint/2010/main" val="371428145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3359</TotalTime>
  <Words>548</Words>
  <Application>Microsoft Office PowerPoint</Application>
  <PresentationFormat>Widescreen</PresentationFormat>
  <Paragraphs>102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Corbel</vt:lpstr>
      <vt:lpstr>Segoe UI Historic</vt:lpstr>
      <vt:lpstr>Segoe UI Semibold</vt:lpstr>
      <vt:lpstr>Basis</vt:lpstr>
      <vt:lpstr>Capstone Project  Financial Growth Audit for a B2B SaaS Company</vt:lpstr>
      <vt:lpstr>PowerPoint Presentation</vt:lpstr>
      <vt:lpstr>PowerPoint Presentation</vt:lpstr>
      <vt:lpstr>PowerPoint Presentation</vt:lpstr>
      <vt:lpstr>PowerPoint Presentation</vt:lpstr>
      <vt:lpstr>State of Affairs Main trend – strong and steady financial growth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Customer Strategy Calculating CAC for future customer acquisitions</vt:lpstr>
      <vt:lpstr>PowerPoint Presentation</vt:lpstr>
      <vt:lpstr>PowerPoint Presentation</vt:lpstr>
      <vt:lpstr>Recommendations Proposition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Nerijus Datkunas</dc:creator>
  <cp:lastModifiedBy>Nerijus Datkunas</cp:lastModifiedBy>
  <cp:revision>36</cp:revision>
  <dcterms:created xsi:type="dcterms:W3CDTF">2025-10-20T14:51:29Z</dcterms:created>
  <dcterms:modified xsi:type="dcterms:W3CDTF">2026-07-02T18:30:05Z</dcterms:modified>
</cp:coreProperties>
</file>